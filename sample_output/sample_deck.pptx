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 in plain language. Use the team-provided problem statement above. Do not cite statistics you cannot show.</a:t>
            </a:r>
          </a:p>
          <a:p>
            <a:r>
              <a:t>[HackPack timing] Slide 1 of 6 — about 30 seconds.</a:t>
            </a:r>
          </a:p>
          <a:p>
            <a:r>
              <a:t>[Review before presenting]</a:t>
            </a:r>
          </a:p>
          <a:p>
            <a:r>
              <a:t>- Bike-share stations run empty during morning commutes, so riders give up and take other transport.: Matched against inspected source; confirm this reflects the behaviour you will present.</a:t>
            </a:r>
          </a:p>
          <a:p>
            <a:r>
              <a:t>- Project: opencycle (https://github.com/synthetic/opencycle): Supported by the README only, which the team authors. Confirm against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prototype and who it serves. Keep it concrete and avoid unsupported impact claims.</a:t>
            </a:r>
          </a:p>
          <a:p>
            <a:r>
              <a:t>[HackPack timing] Slide 2 of 6 — about 30 seconds.</a:t>
            </a:r>
          </a:p>
          <a:p>
            <a:r>
              <a:t>[Review before presenting]</a:t>
            </a:r>
          </a:p>
          <a:p>
            <a:r>
              <a:t>- Synthetic sample: a bike-share rebalancing prototype built for HackPack's examples: Supported by the README only, which the team authors. Confirm against the code.</a:t>
            </a:r>
          </a:p>
          <a:p>
            <a:r>
              <a:t>- Built for: Daily commuters and bike-share operators: Team-provided statement; confirm it reflects the actual project and can be defended to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architecture using the technologies above. Cite the repository files when judges ask how it is implemented.</a:t>
            </a:r>
          </a:p>
          <a:p>
            <a:r>
              <a:t>[HackPack timing] Slide 3 of 6 — about 30 seconds.</a:t>
            </a:r>
          </a:p>
          <a:p>
            <a:r>
              <a:t>[Review before presenting]</a:t>
            </a:r>
          </a:p>
          <a:p>
            <a:r>
              <a:t>- Uses fastapi, plotly: Add a valid source, confirm this with the team, or remove the claim.</a:t>
            </a:r>
          </a:p>
          <a:p>
            <a:r>
              <a:t>- 4 source files inspected during analysis: Add a valid source, confirm this with the team, or remove the claim.</a:t>
            </a:r>
          </a:p>
          <a:p>
            <a:r>
              <a:t>- Automated tests detected in the repository: Supported by the README only, which the team authors. Confirm against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demo what you have rehearsed. If something fails, follow the generated demo checklist backup plan.</a:t>
            </a:r>
          </a:p>
          <a:p>
            <a:r>
              <a:t>[HackPack timing] Slide 4 of 6 — about 30 seconds.</a:t>
            </a:r>
          </a:p>
          <a:p>
            <a:r>
              <a:t>[Review before presenting]</a:t>
            </a:r>
          </a:p>
          <a:p>
            <a:r>
              <a:t>- Walk through the main user flow live: Code existence does not prove deployment, production usage or adoption. Provide evidence or rephrase as a plan.</a:t>
            </a:r>
          </a:p>
          <a:p>
            <a:r>
              <a:t>- Automated tests can be shown: tests/test_rebalancer.py: Add a valid source, confirm this with the team, or remove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implementation and current limitations. Do not state a numerical result unless the team can show the corresponding test output or benchmark evidence.</a:t>
            </a:r>
          </a:p>
          <a:p>
            <a:r>
              <a:t>[HackPack timing] Slide 5 of 6 — about 30 seconds.</a:t>
            </a:r>
          </a:p>
          <a:p>
            <a:r>
              <a:t>[Review before presenting]</a:t>
            </a:r>
          </a:p>
          <a:p>
            <a:r>
              <a:t>- No verified results have been recorded yet; present current state honestly.: Add a valid source, confirm this with the team, or remove the claim.</a:t>
            </a:r>
          </a:p>
          <a:p>
            <a:r>
              <a:t>- Claims without repository evidence are marked for verification in the script.: Supported by the README only, which the team authors. Confirm against the code.</a:t>
            </a:r>
          </a:p>
          <a:p>
            <a:r>
              <a:t>- Analysis warnings: Synthetic sample data; not a real repository.: Supported by the README only, which the team authors. Confirm against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realistic next step and an invitation for questions.</a:t>
            </a:r>
          </a:p>
          <a:p>
            <a:r>
              <a:t>[HackPack timing] Slide 6 of 6 — about 30 seconds.</a:t>
            </a:r>
          </a:p>
          <a:p>
            <a:r>
              <a:t>[Review before presenting]</a:t>
            </a:r>
          </a:p>
          <a:p>
            <a:r>
              <a:t>- Add real station feeds and evaluate with operator data.: Team-provided statement; confirm it reflects the actual project and can be defended to judges.</a:t>
            </a:r>
          </a:p>
          <a:p>
            <a:r>
              <a:t>- Thank the judges and invite questions.: Add a valid source, confirm this with the team, or remove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77240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 b="1">
                <a:solidFill>
                  <a:srgbClr val="00D9FF"/>
                </a:solidFill>
                <a:latin typeface="Aptos"/>
              </a:defRPr>
            </a:pPr>
            <a:r>
              <a:t>HACKPACK   /   opencycle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92608"/>
            <a:ext cx="21488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900" b="1">
                <a:solidFill>
                  <a:srgbClr val="B8BFD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>
                <a:solidFill>
                  <a:srgbClr val="B8BFD7"/>
                </a:solidFill>
                <a:latin typeface="Aptos"/>
              </a:defRPr>
            </a:pPr>
            <a:r>
              <a:t>THE PROBLEM                                      01  /  HACKPACK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8F9FF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51560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B8BFD7"/>
                </a:solidFill>
                <a:latin typeface="Aptos"/>
              </a:defRPr>
            </a:pPr>
            <a:r>
              <a:t>Sustainable urban mobility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10927080" cy="312724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10287000" cy="2743200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Bike-share stations run empty during morning commutes, so riders give up and take other transport.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Project: opencycle (https://github.com/synthetic/opencycle)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22976"/>
            <a:ext cx="10652760" cy="393192"/>
          </a:xfrm>
          <a:prstGeom prst="rect">
            <a:avLst/>
          </a:prstGeom>
          <a:noFill/>
        </p:spPr>
        <p:txBody>
          <a:bodyPr wrap="square" lIns="109728" rIns="36576">
            <a:spAutoFit/>
          </a:bodyPr>
          <a:lstStyle/>
          <a:p>
            <a:pPr>
              <a:defRPr sz="900">
                <a:solidFill>
                  <a:srgbClr val="B8BFD7"/>
                </a:solidFill>
                <a:latin typeface="Aptos"/>
              </a:defRPr>
            </a:pPr>
            <a:r>
              <a:t>Evidence: app/rebalancer.py · 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77240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 b="1">
                <a:solidFill>
                  <a:srgbClr val="00D9FF"/>
                </a:solidFill>
                <a:latin typeface="Aptos"/>
              </a:defRPr>
            </a:pPr>
            <a:r>
              <a:t>HACKPACK   /   opencycle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92608"/>
            <a:ext cx="21488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900" b="1">
                <a:solidFill>
                  <a:srgbClr val="B8BFD7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>
                <a:solidFill>
                  <a:srgbClr val="B8BFD7"/>
                </a:solidFill>
                <a:latin typeface="Aptos"/>
              </a:defRPr>
            </a:pPr>
            <a:r>
              <a:t>OUR SOLUTION                                      02  /  HACKPACK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8F9FF"/>
                </a:solidFill>
                <a:latin typeface="Aptos Display"/>
              </a:defRPr>
            </a:pPr>
            <a:r>
              <a:t>Our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03120"/>
            <a:ext cx="10927080" cy="312724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287000" cy="2743200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Synthetic sample: a bike-share rebalancing prototype built for HackPack's examples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Built for: Daily commuters and bike-share 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22976"/>
            <a:ext cx="10652760" cy="393192"/>
          </a:xfrm>
          <a:prstGeom prst="rect">
            <a:avLst/>
          </a:prstGeom>
          <a:noFill/>
        </p:spPr>
        <p:txBody>
          <a:bodyPr wrap="square" lIns="109728" rIns="36576">
            <a:spAutoFit/>
          </a:bodyPr>
          <a:lstStyle/>
          <a:p>
            <a:pPr>
              <a:defRPr sz="900">
                <a:solidFill>
                  <a:srgbClr val="B8BFD7"/>
                </a:solidFill>
                <a:latin typeface="Aptos"/>
              </a:defRPr>
            </a:pPr>
            <a:r>
              <a:t>Evidence: README.md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77240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 b="1">
                <a:solidFill>
                  <a:srgbClr val="00D9FF"/>
                </a:solidFill>
                <a:latin typeface="Aptos"/>
              </a:defRPr>
            </a:pPr>
            <a:r>
              <a:t>HACKPACK   /   opencycle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92608"/>
            <a:ext cx="21488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900" b="1">
                <a:solidFill>
                  <a:srgbClr val="B8BFD7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>
                <a:solidFill>
                  <a:srgbClr val="B8BFD7"/>
                </a:solidFill>
                <a:latin typeface="Aptos"/>
              </a:defRPr>
            </a:pPr>
            <a:r>
              <a:t>HOW IT WORKS                                      03  /  HACKPACK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8F9FF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03120"/>
            <a:ext cx="10927080" cy="312724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287000" cy="2743200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Uses fastapi, plotly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4 source files inspected during analysis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Automated tests detected in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22976"/>
            <a:ext cx="10652760" cy="393192"/>
          </a:xfrm>
          <a:prstGeom prst="rect">
            <a:avLst/>
          </a:prstGeom>
          <a:noFill/>
        </p:spPr>
        <p:txBody>
          <a:bodyPr wrap="square" lIns="109728" rIns="36576">
            <a:spAutoFit/>
          </a:bodyPr>
          <a:lstStyle/>
          <a:p>
            <a:pPr>
              <a:defRPr sz="900">
                <a:solidFill>
                  <a:srgbClr val="B8BFD7"/>
                </a:solidFill>
                <a:latin typeface="Aptos"/>
              </a:defRPr>
            </a:pPr>
            <a:r>
              <a:t>Evidence: 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77240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 b="1">
                <a:solidFill>
                  <a:srgbClr val="00D9FF"/>
                </a:solidFill>
                <a:latin typeface="Aptos"/>
              </a:defRPr>
            </a:pPr>
            <a:r>
              <a:t>HACKPACK   /   opencycle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92608"/>
            <a:ext cx="21488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900" b="1">
                <a:solidFill>
                  <a:srgbClr val="B8BFD7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>
                <a:solidFill>
                  <a:srgbClr val="B8BFD7"/>
                </a:solidFill>
                <a:latin typeface="Aptos"/>
              </a:defRPr>
            </a:pPr>
            <a:r>
              <a:t>LIVE DEMO                                      04  /  HACKPACK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8F9FF"/>
                </a:solidFill>
                <a:latin typeface="Aptos Display"/>
              </a:defRPr>
            </a:pPr>
            <a:r>
              <a:t>Live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03120"/>
            <a:ext cx="10927080" cy="312724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287000" cy="2743200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Walk through the main user flow live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Automated tests can be shown: tests/test_rebalancer.py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458968"/>
            <a:ext cx="10927080" cy="56692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5458968"/>
            <a:ext cx="64008" cy="5669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10241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D9FF"/>
                </a:solidFill>
                <a:latin typeface="Aptos"/>
              </a:defRPr>
            </a:pPr>
            <a:r>
              <a:t>Speaking time: about 30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77240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 b="1">
                <a:solidFill>
                  <a:srgbClr val="00D9FF"/>
                </a:solidFill>
                <a:latin typeface="Aptos"/>
              </a:defRPr>
            </a:pPr>
            <a:r>
              <a:t>HACKPACK   /   opencycle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92608"/>
            <a:ext cx="21488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900" b="1">
                <a:solidFill>
                  <a:srgbClr val="B8BFD7"/>
                </a:solidFill>
                <a:latin typeface="Aptos"/>
              </a:defRPr>
            </a:pPr>
            <a:r>
              <a:t>EVIDENCE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>
                <a:solidFill>
                  <a:srgbClr val="B8BFD7"/>
                </a:solidFill>
                <a:latin typeface="Aptos"/>
              </a:defRPr>
            </a:pPr>
            <a:r>
              <a:t>EVIDENCE AND LIMITATIONS                                      05  /  HACKPACK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8F9FF"/>
                </a:solidFill>
                <a:latin typeface="Aptos Display"/>
              </a:defRPr>
            </a:pPr>
            <a:r>
              <a:t>Evidence and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03120"/>
            <a:ext cx="10927080" cy="312724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287000" cy="2743200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No verified results have been recorded yet; present current state honestly.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Claims without repository evidence are marked for verification in the script.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Analysis warnings: Synthetic sample data; not a real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22976"/>
            <a:ext cx="10652760" cy="393192"/>
          </a:xfrm>
          <a:prstGeom prst="rect">
            <a:avLst/>
          </a:prstGeom>
          <a:noFill/>
        </p:spPr>
        <p:txBody>
          <a:bodyPr wrap="square" lIns="109728" rIns="36576">
            <a:spAutoFit/>
          </a:bodyPr>
          <a:lstStyle/>
          <a:p>
            <a:pPr>
              <a:defRPr sz="900">
                <a:solidFill>
                  <a:srgbClr val="B8BFD7"/>
                </a:solidFill>
                <a:latin typeface="Aptos"/>
              </a:defRPr>
            </a:pPr>
            <a:r>
              <a:t>Evidence: README.md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7772400" cy="29260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 b="1">
                <a:solidFill>
                  <a:srgbClr val="00D9FF"/>
                </a:solidFill>
                <a:latin typeface="Aptos"/>
              </a:defRPr>
            </a:pPr>
            <a:r>
              <a:t>HACKPACK   /   opencycle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292608"/>
            <a:ext cx="21488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900" b="1">
                <a:solidFill>
                  <a:srgbClr val="B8BFD7"/>
                </a:solidFill>
                <a:latin typeface="Aptos"/>
              </a:defRPr>
            </a:pPr>
            <a: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109728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>
                <a:solidFill>
                  <a:srgbClr val="B8BFD7"/>
                </a:solidFill>
                <a:latin typeface="Aptos"/>
              </a:defRPr>
            </a:pPr>
            <a:r>
              <a:t>WHAT'S NEXT                                      06  /  HACKPACK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2296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F8F9FF"/>
                </a:solidFill>
                <a:latin typeface="Aptos Display"/>
              </a:defRPr>
            </a:pPr>
            <a:r>
              <a:t>What's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03120"/>
            <a:ext cx="10927080" cy="312724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287000" cy="2743200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Add real station feeds and evaluate with operator data.</a:t>
            </a:r>
          </a:p>
          <a:p>
            <a:pPr>
              <a:spcAft>
                <a:spcPts val="1100"/>
              </a:spcAft>
              <a:defRPr sz="1600">
                <a:solidFill>
                  <a:srgbClr val="F8F9FF"/>
                </a:solidFill>
                <a:latin typeface="Aptos"/>
              </a:defRPr>
            </a:pPr>
            <a:r>
              <a:t>•  Thank the judges and invite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458968"/>
            <a:ext cx="10927080" cy="566928"/>
          </a:xfrm>
          <a:prstGeom prst="roundRect">
            <a:avLst/>
          </a:prstGeom>
          <a:solidFill>
            <a:srgbClr val="1B203A"/>
          </a:solidFill>
          <a:ln>
            <a:solidFill>
              <a:srgbClr val="1B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5458968"/>
            <a:ext cx="64008" cy="56692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10241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D9FF"/>
                </a:solidFill>
                <a:latin typeface="Aptos"/>
              </a:defRPr>
            </a:pPr>
            <a:r>
              <a:t>Speaking time: about 30 seconds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HackPack Pitch Deck</dc:title>
  <dc:subject>Generated hackathon pitch deck</dc:subject>
  <dc:creator>HackPack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